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rice SemiExpanded" panose="020B0604020202020204" charset="0"/>
      <p:regular r:id="rId13"/>
    </p:embeddedFont>
    <p:embeddedFont>
      <p:font typeface="Charmonman Bold" panose="020B0604020202020204" charset="-34"/>
      <p:regular r:id="rId14"/>
    </p:embeddedFont>
    <p:embeddedFont>
      <p:font typeface="Noto Sans" panose="020B0502040504020204" pitchFamily="34" charset="0"/>
      <p:regular r:id="rId15"/>
    </p:embeddedFont>
    <p:embeddedFont>
      <p:font typeface="Noto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40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ha Reddy" userId="d452ed3775c091e4" providerId="LiveId" clId="{F7BCD16E-EADF-4C5B-934F-813013D16596}"/>
    <pc:docChg chg="modSld">
      <pc:chgData name="Rishitha Reddy" userId="d452ed3775c091e4" providerId="LiveId" clId="{F7BCD16E-EADF-4C5B-934F-813013D16596}" dt="2026-06-18T19:02:26.547" v="0" actId="20577"/>
      <pc:docMkLst>
        <pc:docMk/>
      </pc:docMkLst>
      <pc:sldChg chg="modSp mod">
        <pc:chgData name="Rishitha Reddy" userId="d452ed3775c091e4" providerId="LiveId" clId="{F7BCD16E-EADF-4C5B-934F-813013D16596}" dt="2026-06-18T19:02:26.547" v="0" actId="20577"/>
        <pc:sldMkLst>
          <pc:docMk/>
          <pc:sldMk cId="0" sldId="260"/>
        </pc:sldMkLst>
        <pc:spChg chg="mod">
          <ac:chgData name="Rishitha Reddy" userId="d452ed3775c091e4" providerId="LiveId" clId="{F7BCD16E-EADF-4C5B-934F-813013D16596}" dt="2026-06-18T19:02:26.547" v="0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886265"/>
            <a:ext cx="11482787" cy="172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5"/>
              </a:lnSpc>
            </a:pPr>
            <a:r>
              <a:rPr lang="en-US" sz="6768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Flight Delay Compensation Claim</a:t>
            </a:r>
          </a:p>
        </p:txBody>
      </p:sp>
      <p:sp>
        <p:nvSpPr>
          <p:cNvPr id="3" name="Freeform 3"/>
          <p:cNvSpPr/>
          <p:nvPr/>
        </p:nvSpPr>
        <p:spPr>
          <a:xfrm>
            <a:off x="13517246" y="-527366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3743" y="720090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74632" y="7616446"/>
            <a:ext cx="5276894" cy="93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685" b="1" spc="29" dirty="0" err="1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M.Gayatri</a:t>
            </a:r>
            <a:r>
              <a:rPr lang="en-US" sz="2685" b="1" spc="29" dirty="0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 - 2520030175</a:t>
            </a:r>
          </a:p>
          <a:p>
            <a:pPr algn="l">
              <a:lnSpc>
                <a:spcPts val="3759"/>
              </a:lnSpc>
            </a:pPr>
            <a:r>
              <a:rPr lang="en-US" sz="2685" b="1" spc="29" dirty="0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S. Rishitha Reddy - 2520090039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7655323" y="179614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8647666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46120" y="2666001"/>
            <a:ext cx="7216012" cy="490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is Flight Delay Compensation?</a:t>
            </a:r>
          </a:p>
          <a:p>
            <a:pPr algn="l">
              <a:lnSpc>
                <a:spcPts val="3564"/>
              </a:lnSpc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Flight delay compensation is a process that allows passengers to claim reimbursement when flights are significantly delayed due to airline-related issues.</a:t>
            </a:r>
          </a:p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Objective: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Simplify compensation claims.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Reduce manual paperwork.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Provide transparent claim tracking.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Improve customer satisfaction.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0" y="3300437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7195356" y="0"/>
                </a:moveTo>
                <a:lnTo>
                  <a:pt x="0" y="0"/>
                </a:lnTo>
                <a:lnTo>
                  <a:pt x="0" y="3390812"/>
                </a:lnTo>
                <a:lnTo>
                  <a:pt x="7195356" y="3390812"/>
                </a:lnTo>
                <a:lnTo>
                  <a:pt x="719535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77272" y="-505616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18695" y="6306059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59259" y="8237963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7641898" y="6356940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70303" y="372712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8146" y="1257388"/>
            <a:ext cx="6545941" cy="53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3947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Problem Statement: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8685" y="3973828"/>
            <a:ext cx="6199836" cy="266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Existing Problems: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Lengthy claim process.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Manual verification.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Lack of claim status visibility.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Delayed compensation payments.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97970" y="241218"/>
            <a:ext cx="5562081" cy="2621131"/>
          </a:xfrm>
          <a:custGeom>
            <a:avLst/>
            <a:gdLst/>
            <a:ahLst/>
            <a:cxnLst/>
            <a:rect l="l" t="t" r="r" b="b"/>
            <a:pathLst>
              <a:path w="5562081" h="2621131">
                <a:moveTo>
                  <a:pt x="0" y="0"/>
                </a:moveTo>
                <a:lnTo>
                  <a:pt x="5562081" y="0"/>
                </a:lnTo>
                <a:lnTo>
                  <a:pt x="5562081" y="2621131"/>
                </a:lnTo>
                <a:lnTo>
                  <a:pt x="0" y="262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06730" y="435194"/>
            <a:ext cx="3923909" cy="2713171"/>
          </a:xfrm>
          <a:custGeom>
            <a:avLst/>
            <a:gdLst/>
            <a:ahLst/>
            <a:cxnLst/>
            <a:rect l="l" t="t" r="r" b="b"/>
            <a:pathLst>
              <a:path w="3923909" h="2713171">
                <a:moveTo>
                  <a:pt x="3923909" y="0"/>
                </a:moveTo>
                <a:lnTo>
                  <a:pt x="0" y="0"/>
                </a:lnTo>
                <a:lnTo>
                  <a:pt x="0" y="2713172"/>
                </a:lnTo>
                <a:lnTo>
                  <a:pt x="3923909" y="2713172"/>
                </a:lnTo>
                <a:lnTo>
                  <a:pt x="39239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823810" y="680103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4082" y="8571124"/>
            <a:ext cx="5274068" cy="2448674"/>
          </a:xfrm>
          <a:custGeom>
            <a:avLst/>
            <a:gdLst/>
            <a:ahLst/>
            <a:cxnLst/>
            <a:rect l="l" t="t" r="r" b="b"/>
            <a:pathLst>
              <a:path w="5274068" h="2448674">
                <a:moveTo>
                  <a:pt x="0" y="0"/>
                </a:moveTo>
                <a:lnTo>
                  <a:pt x="5274068" y="0"/>
                </a:lnTo>
                <a:lnTo>
                  <a:pt x="5274068" y="2448675"/>
                </a:lnTo>
                <a:lnTo>
                  <a:pt x="0" y="2448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13112177" y="669370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-1823810" y="4944655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96320" y="3973828"/>
            <a:ext cx="6199836" cy="311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Proposed Solution</a:t>
            </a:r>
          </a:p>
          <a:p>
            <a:pPr algn="l">
              <a:lnSpc>
                <a:spcPts val="3564"/>
              </a:lnSpc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 a digital system that: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Automates claim submission.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Verifies eligibility.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Tracks claim status.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Processes compensation efficiently.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93910" y="1171575"/>
            <a:ext cx="10517519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System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61327" y="4159427"/>
            <a:ext cx="8161150" cy="356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Features: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User Registration/Login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Flight Information Submission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Delay Verification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Compensation Eligibility Check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Claim Tracking Dashboard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Notification System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Admin Approval Panel</a:t>
            </a:r>
          </a:p>
        </p:txBody>
      </p:sp>
      <p:sp>
        <p:nvSpPr>
          <p:cNvPr id="4" name="Freeform 4"/>
          <p:cNvSpPr/>
          <p:nvPr/>
        </p:nvSpPr>
        <p:spPr>
          <a:xfrm>
            <a:off x="14803616" y="0"/>
            <a:ext cx="4911367" cy="2314482"/>
          </a:xfrm>
          <a:custGeom>
            <a:avLst/>
            <a:gdLst/>
            <a:ahLst/>
            <a:cxnLst/>
            <a:rect l="l" t="t" r="r" b="b"/>
            <a:pathLst>
              <a:path w="4911367" h="2314482">
                <a:moveTo>
                  <a:pt x="0" y="0"/>
                </a:moveTo>
                <a:lnTo>
                  <a:pt x="4911368" y="0"/>
                </a:lnTo>
                <a:lnTo>
                  <a:pt x="4911368" y="2314482"/>
                </a:lnTo>
                <a:lnTo>
                  <a:pt x="0" y="231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218" y="7723776"/>
            <a:ext cx="2975503" cy="2057400"/>
          </a:xfrm>
          <a:custGeom>
            <a:avLst/>
            <a:gdLst/>
            <a:ahLst/>
            <a:cxnLst/>
            <a:rect l="l" t="t" r="r" b="b"/>
            <a:pathLst>
              <a:path w="2975503" h="2057400">
                <a:moveTo>
                  <a:pt x="0" y="0"/>
                </a:moveTo>
                <a:lnTo>
                  <a:pt x="2975504" y="0"/>
                </a:lnTo>
                <a:lnTo>
                  <a:pt x="29755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39717" y="2519052"/>
            <a:ext cx="12283966" cy="6488256"/>
          </a:xfrm>
          <a:custGeom>
            <a:avLst/>
            <a:gdLst/>
            <a:ahLst/>
            <a:cxnLst/>
            <a:rect l="l" t="t" r="r" b="b"/>
            <a:pathLst>
              <a:path w="12283966" h="6488256">
                <a:moveTo>
                  <a:pt x="0" y="0"/>
                </a:moveTo>
                <a:lnTo>
                  <a:pt x="12283967" y="0"/>
                </a:lnTo>
                <a:lnTo>
                  <a:pt x="12283967" y="6488256"/>
                </a:lnTo>
                <a:lnTo>
                  <a:pt x="0" y="6488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1702">
            <a:off x="10745159" y="9258300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1832">
            <a:off x="-999952" y="-159107"/>
            <a:ext cx="3933069" cy="5356319"/>
          </a:xfrm>
          <a:custGeom>
            <a:avLst/>
            <a:gdLst/>
            <a:ahLst/>
            <a:cxnLst/>
            <a:rect l="l" t="t" r="r" b="b"/>
            <a:pathLst>
              <a:path w="3933069" h="5356319">
                <a:moveTo>
                  <a:pt x="0" y="0"/>
                </a:moveTo>
                <a:lnTo>
                  <a:pt x="3933069" y="0"/>
                </a:lnTo>
                <a:lnTo>
                  <a:pt x="3933069" y="5356319"/>
                </a:lnTo>
                <a:lnTo>
                  <a:pt x="0" y="5356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1965904" y="3541523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66863" y="681144"/>
            <a:ext cx="11350080" cy="79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sz="598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Modules Of The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87105" y="2359586"/>
            <a:ext cx="10695891" cy="589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endParaRPr lang="en-US" sz="1194" spc="1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</a:t>
            </a:r>
            <a:r>
              <a:rPr lang="en-US" sz="2294" b="1" spc="25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Module 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                                               </a:t>
            </a:r>
            <a:r>
              <a:rPr lang="en-US" sz="2294" b="1" spc="25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Description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📄 Claim Form                                      Submit flight delay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✅ Eligibility Checker                           Check compensation eligibility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📁 Document Upload                          </a:t>
            </a:r>
            <a:r>
              <a:rPr lang="en-US" sz="2294" spc="25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Upload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required documents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 Input Validation                                Verify user information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📜 Claim History                                  View previous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💬 Support Chat                                  Get customer assistance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📊 Status Tracking                              Track claim progress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👨‍💼 Admin Review                                </a:t>
            </a:r>
            <a:r>
              <a:rPr lang="en-US" sz="2294" spc="25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Review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and approve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📧 Email Notification                          Send claim updates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❓ FAQ &amp; Help                                     Provide user guidance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📑 PDF Export                                      Download claim reports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📱 Responsive UI                                 Support all devices</a:t>
            </a:r>
          </a:p>
          <a:p>
            <a:pPr algn="l">
              <a:lnSpc>
                <a:spcPts val="2792"/>
              </a:lnSpc>
            </a:pPr>
            <a:endParaRPr lang="en-US" sz="2294" spc="25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803616" y="0"/>
            <a:ext cx="4911367" cy="2314482"/>
          </a:xfrm>
          <a:custGeom>
            <a:avLst/>
            <a:gdLst/>
            <a:ahLst/>
            <a:cxnLst/>
            <a:rect l="l" t="t" r="r" b="b"/>
            <a:pathLst>
              <a:path w="4911367" h="2314482">
                <a:moveTo>
                  <a:pt x="0" y="0"/>
                </a:moveTo>
                <a:lnTo>
                  <a:pt x="4911368" y="0"/>
                </a:lnTo>
                <a:lnTo>
                  <a:pt x="4911368" y="2314482"/>
                </a:lnTo>
                <a:lnTo>
                  <a:pt x="0" y="231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218" y="7723776"/>
            <a:ext cx="2975503" cy="2057400"/>
          </a:xfrm>
          <a:custGeom>
            <a:avLst/>
            <a:gdLst/>
            <a:ahLst/>
            <a:cxnLst/>
            <a:rect l="l" t="t" r="r" b="b"/>
            <a:pathLst>
              <a:path w="2975503" h="2057400">
                <a:moveTo>
                  <a:pt x="0" y="0"/>
                </a:moveTo>
                <a:lnTo>
                  <a:pt x="2975504" y="0"/>
                </a:lnTo>
                <a:lnTo>
                  <a:pt x="29755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39717" y="2519052"/>
            <a:ext cx="12283966" cy="6488256"/>
          </a:xfrm>
          <a:custGeom>
            <a:avLst/>
            <a:gdLst/>
            <a:ahLst/>
            <a:cxnLst/>
            <a:rect l="l" t="t" r="r" b="b"/>
            <a:pathLst>
              <a:path w="12283966" h="6488256">
                <a:moveTo>
                  <a:pt x="0" y="0"/>
                </a:moveTo>
                <a:lnTo>
                  <a:pt x="12283967" y="0"/>
                </a:lnTo>
                <a:lnTo>
                  <a:pt x="12283967" y="6488256"/>
                </a:lnTo>
                <a:lnTo>
                  <a:pt x="0" y="6488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1702">
            <a:off x="10745159" y="9258300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1832">
            <a:off x="-999952" y="-159107"/>
            <a:ext cx="3933069" cy="5356319"/>
          </a:xfrm>
          <a:custGeom>
            <a:avLst/>
            <a:gdLst/>
            <a:ahLst/>
            <a:cxnLst/>
            <a:rect l="l" t="t" r="r" b="b"/>
            <a:pathLst>
              <a:path w="3933069" h="5356319">
                <a:moveTo>
                  <a:pt x="0" y="0"/>
                </a:moveTo>
                <a:lnTo>
                  <a:pt x="3933069" y="0"/>
                </a:lnTo>
                <a:lnTo>
                  <a:pt x="3933069" y="5356319"/>
                </a:lnTo>
                <a:lnTo>
                  <a:pt x="0" y="5356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5486400" y="900730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410" y="727833"/>
            <a:ext cx="11296814" cy="7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5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System Architecture</a:t>
            </a:r>
          </a:p>
        </p:txBody>
      </p:sp>
      <p:sp>
        <p:nvSpPr>
          <p:cNvPr id="3" name="Freeform 3"/>
          <p:cNvSpPr/>
          <p:nvPr/>
        </p:nvSpPr>
        <p:spPr>
          <a:xfrm>
            <a:off x="-1242264" y="8411980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50594" y="2128778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30400" y="6243578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-379911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1864445" y="-2587374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9916732" y="9696450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52956" y="1890431"/>
            <a:ext cx="11058716" cy="7367869"/>
          </a:xfrm>
          <a:custGeom>
            <a:avLst/>
            <a:gdLst/>
            <a:ahLst/>
            <a:cxnLst/>
            <a:rect l="l" t="t" r="r" b="b"/>
            <a:pathLst>
              <a:path w="11058716" h="7367869">
                <a:moveTo>
                  <a:pt x="0" y="0"/>
                </a:moveTo>
                <a:lnTo>
                  <a:pt x="11058716" y="0"/>
                </a:lnTo>
                <a:lnTo>
                  <a:pt x="11058716" y="7367869"/>
                </a:lnTo>
                <a:lnTo>
                  <a:pt x="0" y="73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14425"/>
            <a:ext cx="6545941" cy="54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sz="4147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Technologies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09491" y="2135636"/>
            <a:ext cx="5839147" cy="651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Frontend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HTML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CSS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JavaScript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Backend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Flask / Node.js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Database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MySQL / MongoDB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Tools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VS Code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</a:p>
          <a:p>
            <a:pPr algn="l">
              <a:lnSpc>
                <a:spcPts val="3564"/>
              </a:lnSpc>
            </a:pPr>
            <a:endParaRPr lang="en-US" sz="3146" spc="34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578825" y="0"/>
            <a:ext cx="5840007" cy="2752103"/>
          </a:xfrm>
          <a:custGeom>
            <a:avLst/>
            <a:gdLst/>
            <a:ahLst/>
            <a:cxnLst/>
            <a:rect l="l" t="t" r="r" b="b"/>
            <a:pathLst>
              <a:path w="5840007" h="2752103">
                <a:moveTo>
                  <a:pt x="0" y="0"/>
                </a:moveTo>
                <a:lnTo>
                  <a:pt x="5840007" y="0"/>
                </a:lnTo>
                <a:lnTo>
                  <a:pt x="5840007" y="2752103"/>
                </a:lnTo>
                <a:lnTo>
                  <a:pt x="0" y="2752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977" y="-1592685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1474" y="881443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557799" y="1822604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996298" y="399447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11008" y="2860311"/>
            <a:ext cx="6978164" cy="451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4"/>
              </a:lnSpc>
            </a:pPr>
            <a:r>
              <a:rPr lang="en-US" sz="2846" b="1" spc="3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Claim Process: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Passenger enters flight details.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System checks delay duration.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Eligibility is verified.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Claim is submitted.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Admin reviews request.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Compensation is approved/rejected.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User receives notification.</a:t>
            </a:r>
          </a:p>
          <a:p>
            <a:pPr algn="l">
              <a:lnSpc>
                <a:spcPts val="3984"/>
              </a:lnSpc>
            </a:pPr>
            <a:endParaRPr lang="en-US" sz="2846" spc="3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324326" y="7562894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2"/>
                </a:lnTo>
                <a:lnTo>
                  <a:pt x="0" y="339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1669" y="-73914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68399" y="642319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315200" y="-53925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8510" y="1123950"/>
            <a:ext cx="8795671" cy="57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3"/>
              </a:lnSpc>
            </a:pPr>
            <a:r>
              <a:rPr lang="en-US" sz="440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Future Enhancements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11008" y="3355611"/>
            <a:ext cx="8030520" cy="404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 spc="36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 Scope: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AI-based fraud detection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Mobile application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Real-time flight tracking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Multi-airline integration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Online payment gateway</a:t>
            </a:r>
          </a:p>
          <a:p>
            <a:pPr algn="l">
              <a:lnSpc>
                <a:spcPts val="4585"/>
              </a:lnSpc>
            </a:pPr>
            <a:endParaRPr lang="en-US" sz="3275" spc="36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324326" y="7562894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2"/>
                </a:lnTo>
                <a:lnTo>
                  <a:pt x="0" y="339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1669" y="-73914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68399" y="642319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315200" y="-53925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73461" y="3633562"/>
            <a:ext cx="11998993" cy="256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 spc="3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 Flight Delay Compensation Claim System streamlines the compensation process by automating claim submission, verification, and tracking, resulting in faster resolutions and improved passenger satisfaction.</a:t>
            </a:r>
          </a:p>
          <a:p>
            <a:pPr algn="l">
              <a:lnSpc>
                <a:spcPts val="3564"/>
              </a:lnSpc>
            </a:pPr>
            <a:endParaRPr lang="en-US" sz="3046" spc="33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002704" y="-425823"/>
            <a:ext cx="6076276" cy="2863445"/>
          </a:xfrm>
          <a:custGeom>
            <a:avLst/>
            <a:gdLst/>
            <a:ahLst/>
            <a:cxnLst/>
            <a:rect l="l" t="t" r="r" b="b"/>
            <a:pathLst>
              <a:path w="6076276" h="2863445">
                <a:moveTo>
                  <a:pt x="0" y="0"/>
                </a:moveTo>
                <a:lnTo>
                  <a:pt x="6076276" y="0"/>
                </a:lnTo>
                <a:lnTo>
                  <a:pt x="6076276" y="2863445"/>
                </a:lnTo>
                <a:lnTo>
                  <a:pt x="0" y="286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37531" y="7820790"/>
            <a:ext cx="4834303" cy="3342660"/>
          </a:xfrm>
          <a:custGeom>
            <a:avLst/>
            <a:gdLst/>
            <a:ahLst/>
            <a:cxnLst/>
            <a:rect l="l" t="t" r="r" b="b"/>
            <a:pathLst>
              <a:path w="4834303" h="3342660">
                <a:moveTo>
                  <a:pt x="4834303" y="0"/>
                </a:moveTo>
                <a:lnTo>
                  <a:pt x="0" y="0"/>
                </a:lnTo>
                <a:lnTo>
                  <a:pt x="0" y="3342660"/>
                </a:lnTo>
                <a:lnTo>
                  <a:pt x="4834303" y="3342660"/>
                </a:lnTo>
                <a:lnTo>
                  <a:pt x="483430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26085">
            <a:off x="15333033" y="-837633"/>
            <a:ext cx="3852534" cy="5246642"/>
          </a:xfrm>
          <a:custGeom>
            <a:avLst/>
            <a:gdLst/>
            <a:ahLst/>
            <a:cxnLst/>
            <a:rect l="l" t="t" r="r" b="b"/>
            <a:pathLst>
              <a:path w="3852534" h="5246642">
                <a:moveTo>
                  <a:pt x="0" y="0"/>
                </a:moveTo>
                <a:lnTo>
                  <a:pt x="3852534" y="0"/>
                </a:lnTo>
                <a:lnTo>
                  <a:pt x="3852534" y="5246642"/>
                </a:lnTo>
                <a:lnTo>
                  <a:pt x="0" y="5246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6459200" y="5218466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042787"/>
            <a:ext cx="11482787" cy="457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3517246" y="-527366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3743" y="720090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7655323" y="179614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324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Brice SemiExpanded</vt:lpstr>
      <vt:lpstr>Noto Sans</vt:lpstr>
      <vt:lpstr>Charmonman Bold</vt:lpstr>
      <vt:lpstr>Noto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Teal Vintage Aviation Aircraft Group Project Presentation</dc:title>
  <cp:lastModifiedBy>Rishitha Reddy</cp:lastModifiedBy>
  <cp:revision>2</cp:revision>
  <dcterms:created xsi:type="dcterms:W3CDTF">2006-08-16T00:00:00Z</dcterms:created>
  <dcterms:modified xsi:type="dcterms:W3CDTF">2026-06-18T19:02:37Z</dcterms:modified>
  <dc:identifier>DAHM8pTbBqE</dc:identifier>
</cp:coreProperties>
</file>